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0"/>
  </p:normalViewPr>
  <p:slideViewPr>
    <p:cSldViewPr snapToGrid="0">
      <p:cViewPr varScale="1">
        <p:scale>
          <a:sx n="102" d="100"/>
          <a:sy n="102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F596E-9F16-244E-A347-44FEEEF60209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0D715-10EA-454C-A73A-88254B91D1D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74051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E" dirty="0"/>
              <a:t>low vax coverage in LMICs in africa and middle east</a:t>
            </a:r>
          </a:p>
          <a:p>
            <a:r>
              <a:rPr lang="en-KE" dirty="0"/>
              <a:t>disease outbreaks such as menengitis in Nigeria</a:t>
            </a:r>
          </a:p>
          <a:p>
            <a:r>
              <a:rPr lang="en-KE" dirty="0"/>
              <a:t>excess mortality in europe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0D715-10EA-454C-A73A-88254B91D1D1}" type="slidenum">
              <a:rPr lang="en-KE" smtClean="0"/>
              <a:t>2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95647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K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E" dirty="0"/>
              <a:t>Penta 1, 2, 3 given in 6, 10, 14 weeks, MCV1 given in 9 months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K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K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E" dirty="0"/>
              <a:t>Heatwaves: No globally accepted definition, and are many, depending on intensity, and duraiton.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E" dirty="0"/>
              <a:t>in this study: 2 or more consecutive days where the mean temperature exceeds the location specific 90th quantile of the year round temp distribution of 1940-2019.</a:t>
            </a:r>
          </a:p>
          <a:p>
            <a:endParaRPr lang="en-KE" dirty="0"/>
          </a:p>
          <a:p>
            <a:r>
              <a:rPr lang="en-KE" dirty="0"/>
              <a:t>Procedure:</a:t>
            </a:r>
          </a:p>
          <a:p>
            <a:r>
              <a:rPr lang="en-KE" dirty="0"/>
              <a:t>For each location (geocode of cluster/woman):</a:t>
            </a:r>
          </a:p>
          <a:p>
            <a:r>
              <a:rPr lang="en-KE" dirty="0"/>
              <a:t>- obtain daily mean temp time series 1940-2019</a:t>
            </a:r>
          </a:p>
          <a:p>
            <a:r>
              <a:rPr lang="en-KE" dirty="0"/>
              <a:t>- compute a 5 day rolling average, TX5X</a:t>
            </a:r>
          </a:p>
          <a:p>
            <a:r>
              <a:rPr lang="en-KE" dirty="0"/>
              <a:t>- compute annual maxima of the TX5X</a:t>
            </a:r>
          </a:p>
          <a:p>
            <a:r>
              <a:rPr lang="en-KE" dirty="0"/>
              <a:t>- Fit a time series GEV on these, and compute return levels (here 1-in-10 year event (90th percentile))</a:t>
            </a:r>
          </a:p>
          <a:p>
            <a:r>
              <a:rPr lang="en-KE" dirty="0"/>
              <a:t>- For TX5X of 2020-2024, classify the day's temp as heatwave based on the location's return level (TX5X &gt; Return level)</a:t>
            </a:r>
          </a:p>
          <a:p>
            <a:r>
              <a:rPr lang="en-KE" dirty="0"/>
              <a:t>- The check if the child's due date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0D715-10EA-454C-A73A-88254B91D1D1}" type="slidenum">
              <a:rPr lang="en-KE" smtClean="0"/>
              <a:t>3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51189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3EF5-93BF-88D4-56D3-FB3E64441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20B8E-7D0B-0688-E38B-C99AC4FEE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C16BC-C505-5869-2B56-2E3ED15B9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AE610-919F-9DBC-AED5-97C9F5B6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90E2F-5C8F-0F7E-2680-80653B00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028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FF07-380D-6C93-B2D9-880CD7F0E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8F509-89A5-7D73-C063-D0ACA7174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98586-73E3-A86B-52B4-453CA51E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6A9D-AC4A-5C17-BFC6-8853573A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A84B0-455F-15C5-5522-52F8E08D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4696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BA53-6F0A-6248-550A-026F98F05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020DF-4423-8C23-E722-12D337EB7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00644-A79F-8336-B8F7-3FB8E545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56F79-1880-5728-CB6B-DBB34F55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C4D13-DBFB-A767-9180-2E3A158B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3070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54EE-D46E-FA6D-2F46-530E76FB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EE41E-4680-BF14-6144-985CCA403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E27E2-7D2E-D76B-E991-F8542B700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0961-813A-6677-17B5-9C2B23D93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C00E0-1B50-0076-FD94-9E3008C2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10AEE-04AC-67CF-4961-DD352B23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5285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47A2-DDB4-781E-C3AD-E7B849DB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4BC80-E530-BB0F-D97B-D41A032FE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C6E56-99DA-BAB8-18E7-439E20C57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E76A2-3F44-45BA-FFB0-CBD488F0B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F1B89-15FD-2AC9-6276-D187073B9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A1FE24-4AA0-ACFD-DF8A-62E61BE7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F8828-CE85-3E86-CB1C-B28745F1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BA7A1-8C53-B9E6-9DC5-55C79215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5193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DC1B-AD30-294F-1A0D-5F2BA1F9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773D1-64C8-05C6-61E0-149417F4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937BA-51F5-CA8A-DFB3-1543EFB0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B7B3-752A-4DA9-C1A2-16DD965F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3833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C8C4B-AD41-2487-2525-0E41E8E8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DFCCF0-B97C-DFC9-4222-FDA99E55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B5072-74F2-110A-9E5C-F26051DB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7147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E37B-AA20-4146-3FB8-8D57D9B09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4840-79CA-94EC-B771-41F7E8264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AB6E-7CE4-1A65-DFF2-3805FC455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E71BB-C922-597B-1500-FA0F9742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0E2A3-6E46-CA26-4CEA-57DC6BDB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664D3-AC0B-4767-F200-461EEB87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3911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3EB6-0F4F-8F64-D257-BADC9759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21209-24A2-BB4E-AA10-507799A2B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1E225-4754-A91C-9EF2-23A917088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0306F-1A00-8570-33C5-728E1A83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28AC1-733E-9EC6-3433-909BE984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54013-2B13-CAFA-1194-CA63C709B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973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CFB41-F68E-530C-3FE4-A5256515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CDE1A-EBC8-014A-6E70-543FF96E4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CD8A4-267F-4559-F6E0-ABF1B7B4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217E0-F65E-1B13-F809-E05DBB68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1108-8267-1BC1-AF71-3863BC8C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605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AF2A1-7C39-0A10-5EEC-1B9A167F5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DCC74-635D-FF79-F656-7B4EC5860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190F8-CA96-E46F-C726-7E130E26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AFEC6-EBE5-FA7F-A9CA-D257CC3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9964C-43A2-7228-D53B-CA6ABEFB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9307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6DF637-D9FB-9A7F-35FD-963C1CD6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9163D-DED9-9B1D-C431-1022A20E6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67524-92B0-B4F4-646D-10197A089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36BB0-FB21-F74C-B73A-1F5FE2E6E1A0}" type="datetimeFigureOut">
              <a:rPr lang="en-KE" smtClean="0"/>
              <a:t>19/05/2026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3A03E-7126-5E08-E25F-F592303B9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7EBBB-E8F5-1DEE-3F04-A21BB7DF9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3F8D0-CD2B-6C46-9F47-F994AD5D79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1349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BB7E983-B394-A663-DF1F-36EBF4AF3538}"/>
              </a:ext>
            </a:extLst>
          </p:cNvPr>
          <p:cNvSpPr txBox="1"/>
          <p:nvPr/>
        </p:nvSpPr>
        <p:spPr>
          <a:xfrm>
            <a:off x="121920" y="1929294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E" sz="4000" b="0" i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Examining the Timeliness of Routine Vaccination During Heatwaves</a:t>
            </a:r>
            <a:r>
              <a:rPr lang="en-KE" sz="4000" b="0" i="0" u="none" strike="noStrike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</a:p>
          <a:p>
            <a:endParaRPr lang="en-KE" sz="40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en-KE" sz="4000" dirty="0">
                <a:solidFill>
                  <a:schemeClr val="accent1"/>
                </a:solidFill>
                <a:latin typeface="Garamond" panose="02020404030301010803" pitchFamily="18" charset="0"/>
              </a:rPr>
              <a:t>Stanley Sayianka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D1741-627C-AC10-CD3F-0CB125BF8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92" t="7700" r="21255" b="4039"/>
          <a:stretch>
            <a:fillRect/>
          </a:stretch>
        </p:blipFill>
        <p:spPr>
          <a:xfrm>
            <a:off x="7534656" y="856488"/>
            <a:ext cx="4535424" cy="51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18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3CE5F-2B4B-D87D-9C42-6C6B3E69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867E7-215E-48F6-428A-A3E2E192D7D6}"/>
              </a:ext>
            </a:extLst>
          </p:cNvPr>
          <p:cNvSpPr txBox="1"/>
          <p:nvPr/>
        </p:nvSpPr>
        <p:spPr>
          <a:xfrm>
            <a:off x="0" y="759038"/>
            <a:ext cx="1207008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E" sz="3100" b="1" dirty="0">
                <a:latin typeface="Garamond" panose="02020404030301010803" pitchFamily="18" charset="0"/>
              </a:rPr>
              <a:t>Background: </a:t>
            </a:r>
            <a:r>
              <a:rPr lang="en-KE" sz="3100" dirty="0">
                <a:latin typeface="Garamond" panose="02020404030301010803" pitchFamily="18" charset="0"/>
              </a:rPr>
              <a:t>Heatwaves have been associated with public health challenges, such as low vaccine coverage, disease outbreaks and excess mortality.</a:t>
            </a:r>
            <a:endParaRPr lang="en-KE" sz="3100" b="1" dirty="0">
              <a:latin typeface="Garamond" panose="02020404030301010803" pitchFamily="18" charset="0"/>
            </a:endParaRPr>
          </a:p>
          <a:p>
            <a:endParaRPr lang="en-KE" sz="3100" b="1" dirty="0">
              <a:latin typeface="Garamond" panose="02020404030301010803" pitchFamily="18" charset="0"/>
            </a:endParaRPr>
          </a:p>
          <a:p>
            <a:r>
              <a:rPr lang="en-KE" sz="3100" b="1" dirty="0">
                <a:latin typeface="Garamond" panose="02020404030301010803" pitchFamily="18" charset="0"/>
              </a:rPr>
              <a:t>Hypothesis</a:t>
            </a:r>
            <a:r>
              <a:rPr lang="en-KE" sz="3100" dirty="0">
                <a:latin typeface="Garamond" panose="02020404030301010803" pitchFamily="18" charset="0"/>
              </a:rPr>
              <a:t>: We are interested in examining if the presence of heatwaves around the period when a child’s vaccine is due is associated with a delay in uptake of that vaccine, or entirely missing it, after adjusting for known factors associated with vaccine uptake and timeliness.</a:t>
            </a:r>
          </a:p>
          <a:p>
            <a:endParaRPr lang="en-KE" sz="3100" dirty="0">
              <a:latin typeface="Garamond" panose="02020404030301010803" pitchFamily="18" charset="0"/>
            </a:endParaRPr>
          </a:p>
          <a:p>
            <a:r>
              <a:rPr lang="en-KE" sz="3100" dirty="0">
                <a:latin typeface="Garamond" panose="02020404030301010803" pitchFamily="18" charset="0"/>
              </a:rPr>
              <a:t>Source population: Children under 3 years in Nigeria.</a:t>
            </a:r>
          </a:p>
          <a:p>
            <a:r>
              <a:rPr lang="en-KE" sz="3100" dirty="0">
                <a:latin typeface="Garamond" panose="02020404030301010803" pitchFamily="18" charset="0"/>
              </a:rPr>
              <a:t>Study population: Children under 3 years of women interviewed in Nigeria 2024 DHS Survey.</a:t>
            </a:r>
          </a:p>
        </p:txBody>
      </p:sp>
    </p:spTree>
    <p:extLst>
      <p:ext uri="{BB962C8B-B14F-4D97-AF65-F5344CB8AC3E}">
        <p14:creationId xmlns:p14="http://schemas.microsoft.com/office/powerpoint/2010/main" val="329014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45A1-B2B9-1962-24D8-522C56F1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00821E-0438-5B24-7FB7-8653C28DBB05}"/>
              </a:ext>
            </a:extLst>
          </p:cNvPr>
          <p:cNvSpPr txBox="1"/>
          <p:nvPr/>
        </p:nvSpPr>
        <p:spPr>
          <a:xfrm>
            <a:off x="0" y="0"/>
            <a:ext cx="11996928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KE" sz="2500" b="1" dirty="0">
                <a:latin typeface="Garamond" panose="02020404030301010803" pitchFamily="18" charset="0"/>
              </a:rPr>
              <a:t>Outcome variable</a:t>
            </a:r>
            <a:r>
              <a:rPr lang="en-KE" sz="2500" dirty="0">
                <a:latin typeface="Garamond" panose="02020404030301010803" pitchFamily="18" charset="0"/>
              </a:rPr>
              <a:t>:  Whether vaccine was timely or not (derived quantity).</a:t>
            </a:r>
          </a:p>
          <a:p>
            <a:r>
              <a:rPr lang="en-KE" sz="2500" dirty="0">
                <a:solidFill>
                  <a:srgbClr val="000000"/>
                </a:solidFill>
                <a:latin typeface="Garamond" panose="02020404030301010803" pitchFamily="18" charset="0"/>
              </a:rPr>
              <a:t>Data: Nigeria Demographic Health Survey 2024</a:t>
            </a:r>
          </a:p>
          <a:p>
            <a:r>
              <a:rPr lang="en-KE" sz="2500" dirty="0">
                <a:solidFill>
                  <a:srgbClr val="000000"/>
                </a:solidFill>
                <a:latin typeface="Garamond" panose="02020404030301010803" pitchFamily="18" charset="0"/>
              </a:rPr>
              <a:t>Outcome measure: Odds ratio.</a:t>
            </a:r>
            <a:endParaRPr lang="en-KE" sz="2500" dirty="0">
              <a:latin typeface="Garamond" panose="02020404030301010803" pitchFamily="18" charset="0"/>
            </a:endParaRPr>
          </a:p>
          <a:p>
            <a:r>
              <a:rPr lang="en-KE" sz="2500" dirty="0">
                <a:latin typeface="Garamond" panose="02020404030301010803" pitchFamily="18" charset="0"/>
              </a:rPr>
              <a:t>Vaccines considered from Nigeria’s EPI Schedule: Pentavalent 1, 2, 3 and MCV1.</a:t>
            </a:r>
          </a:p>
          <a:p>
            <a:endParaRPr lang="en-KE" sz="2500" dirty="0">
              <a:latin typeface="Garamond" panose="02020404030301010803" pitchFamily="18" charset="0"/>
            </a:endParaRPr>
          </a:p>
          <a:p>
            <a:r>
              <a:rPr lang="en-KE" sz="2500" b="1" dirty="0">
                <a:latin typeface="Garamond" panose="02020404030301010803" pitchFamily="18" charset="0"/>
              </a:rPr>
              <a:t>2. Adjustment for Risk factors:  </a:t>
            </a:r>
            <a:r>
              <a:rPr lang="en-KE" sz="2500" dirty="0">
                <a:latin typeface="Garamond" panose="02020404030301010803" pitchFamily="18" charset="0"/>
              </a:rPr>
              <a:t>Factors informed by a systematic review</a:t>
            </a:r>
            <a:r>
              <a:rPr lang="en-KE" sz="2500" baseline="30000" dirty="0">
                <a:latin typeface="Garamond" panose="02020404030301010803" pitchFamily="18" charset="0"/>
              </a:rPr>
              <a:t>1</a:t>
            </a:r>
            <a:r>
              <a:rPr lang="en-KE" sz="2500" dirty="0">
                <a:latin typeface="Garamond" panose="02020404030301010803" pitchFamily="18" charset="0"/>
              </a:rPr>
              <a:t> of factors associated with vaccine delay and timeliness.</a:t>
            </a:r>
          </a:p>
          <a:p>
            <a:r>
              <a:rPr lang="en-KE" sz="2500" i="1" dirty="0">
                <a:latin typeface="Garamond" panose="02020404030301010803" pitchFamily="18" charset="0"/>
              </a:rPr>
              <a:t>(Mother’s age, eduction, occupation, ANC visits, place of delivery, child’s sex, birth order, travel time to HF, household wealth index, residence …)</a:t>
            </a:r>
          </a:p>
          <a:p>
            <a:r>
              <a:rPr lang="en-KE" sz="2500" dirty="0">
                <a:latin typeface="Garamond" panose="02020404030301010803" pitchFamily="18" charset="0"/>
              </a:rPr>
              <a:t>Data: Obtained from the DHS survey.</a:t>
            </a:r>
          </a:p>
          <a:p>
            <a:endParaRPr lang="en-KE" sz="2500" dirty="0">
              <a:latin typeface="Garamond" panose="02020404030301010803" pitchFamily="18" charset="0"/>
            </a:endParaRPr>
          </a:p>
          <a:p>
            <a:r>
              <a:rPr lang="en-KE" sz="2500" b="1" dirty="0">
                <a:latin typeface="Garamond" panose="02020404030301010803" pitchFamily="18" charset="0"/>
              </a:rPr>
              <a:t>3. Exposure definition</a:t>
            </a:r>
            <a:r>
              <a:rPr lang="en-KE" sz="2500" dirty="0">
                <a:latin typeface="Garamond" panose="02020404030301010803" pitchFamily="18" charset="0"/>
              </a:rPr>
              <a:t>:  Presence/Absence of a </a:t>
            </a:r>
            <a:r>
              <a:rPr lang="en-KE" sz="2500" dirty="0">
                <a:solidFill>
                  <a:srgbClr val="FF0000"/>
                </a:solidFill>
                <a:latin typeface="Garamond" panose="02020404030301010803" pitchFamily="18" charset="0"/>
              </a:rPr>
              <a:t>heatwave</a:t>
            </a:r>
            <a:r>
              <a:rPr lang="en-KE" sz="2500" dirty="0">
                <a:latin typeface="Garamond" panose="02020404030301010803" pitchFamily="18" charset="0"/>
              </a:rPr>
              <a:t> within a child’s vaccination window (+/- 7 days).</a:t>
            </a:r>
          </a:p>
          <a:p>
            <a:r>
              <a:rPr lang="en-KE" sz="2500" dirty="0">
                <a:solidFill>
                  <a:srgbClr val="000000"/>
                </a:solidFill>
                <a:latin typeface="Garamond" panose="02020404030301010803" pitchFamily="18" charset="0"/>
              </a:rPr>
              <a:t>Data: Climate Data Store (1940-2024). </a:t>
            </a:r>
            <a:endParaRPr lang="en-KE" sz="2500" dirty="0">
              <a:latin typeface="Garamond" panose="02020404030301010803" pitchFamily="18" charset="0"/>
            </a:endParaRPr>
          </a:p>
          <a:p>
            <a:r>
              <a:rPr lang="en-KE" sz="2500" dirty="0">
                <a:latin typeface="Garamond" panose="02020404030301010803" pitchFamily="18" charset="0"/>
              </a:rPr>
              <a:t>Procedure for obtaining this is from previous research</a:t>
            </a:r>
            <a:r>
              <a:rPr lang="en-KE" sz="2500" baseline="30000" dirty="0">
                <a:latin typeface="Garamond" panose="02020404030301010803" pitchFamily="18" charset="0"/>
              </a:rPr>
              <a:t>2</a:t>
            </a:r>
            <a:r>
              <a:rPr lang="en-KE" sz="2500" dirty="0">
                <a:latin typeface="Garamond" panose="02020404030301010803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8E407-87A0-DA0A-1CC5-F1656EA7AD07}"/>
              </a:ext>
            </a:extLst>
          </p:cNvPr>
          <p:cNvSpPr txBox="1"/>
          <p:nvPr/>
        </p:nvSpPr>
        <p:spPr>
          <a:xfrm>
            <a:off x="-9854" y="630059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GB" sz="1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Nina B. Masters, Abram L. Wagner &amp; Matthew L. Boulton (2019) Vaccination timeliness and delay in low- and middle-income countries: a systematic review of the literature, 2007-2017, Human Vaccines &amp; Immunotherapeutics, 15:12, 2790-2805, DOI: 10.1080/21645515.2019.1616503</a:t>
            </a:r>
          </a:p>
          <a:p>
            <a:pPr marL="228600" indent="-228600">
              <a:buAutoNum type="arabicPeriod"/>
            </a:pPr>
            <a:r>
              <a:rPr lang="en-KE" sz="1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Hundessa, S., Huang, W., Xu, R., Yang, Z., Zhao, Q., Gasparrini, A., ... &amp; Guo, Y. (2025). Global excess deaths associated with heatwaves in 2023 and the contribution of human-induced climate change. </a:t>
            </a:r>
            <a:r>
              <a:rPr lang="en-KE" sz="10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Innovation</a:t>
            </a:r>
            <a:r>
              <a:rPr lang="en-KE" sz="1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KE" sz="10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KE" sz="1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(10).</a:t>
            </a:r>
          </a:p>
        </p:txBody>
      </p:sp>
    </p:spTree>
    <p:extLst>
      <p:ext uri="{BB962C8B-B14F-4D97-AF65-F5344CB8AC3E}">
        <p14:creationId xmlns:p14="http://schemas.microsoft.com/office/powerpoint/2010/main" val="242006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460C-E1C4-F734-C65D-BCAE471CB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D7701F-458A-CE58-8EDE-1C1A8F4A2619}"/>
              </a:ext>
            </a:extLst>
          </p:cNvPr>
          <p:cNvSpPr txBox="1"/>
          <p:nvPr/>
        </p:nvSpPr>
        <p:spPr>
          <a:xfrm>
            <a:off x="0" y="0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E" sz="2800" dirty="0">
                <a:solidFill>
                  <a:srgbClr val="000000"/>
                </a:solidFill>
                <a:latin typeface="Garamond" panose="02020404030301010803" pitchFamily="18" charset="0"/>
              </a:rPr>
              <a:t>Methods</a:t>
            </a:r>
          </a:p>
          <a:p>
            <a:pPr marL="514350" indent="-514350">
              <a:buAutoNum type="arabicPeriod"/>
            </a:pPr>
            <a:r>
              <a:rPr lang="en-KE" sz="2800" dirty="0">
                <a:solidFill>
                  <a:srgbClr val="000000"/>
                </a:solidFill>
                <a:latin typeface="Garamond" panose="02020404030301010803" pitchFamily="18" charset="0"/>
              </a:rPr>
              <a:t>Each vaccine will be examined in its own model.</a:t>
            </a:r>
          </a:p>
          <a:p>
            <a:pPr marL="514350" indent="-514350">
              <a:buAutoNum type="arabicPeriod"/>
            </a:pPr>
            <a:r>
              <a:rPr lang="en-KE" sz="2800" dirty="0">
                <a:solidFill>
                  <a:srgbClr val="000000"/>
                </a:solidFill>
                <a:latin typeface="Garamond" panose="02020404030301010803" pitchFamily="18" charset="0"/>
              </a:rPr>
              <a:t>The complex DHS sampling scheme via the sample weights will be adjusted for.</a:t>
            </a:r>
          </a:p>
          <a:p>
            <a:pPr marL="514350" indent="-514350">
              <a:buAutoNum type="arabicPeriod"/>
            </a:pPr>
            <a:r>
              <a:rPr lang="en-KE" sz="2800" dirty="0">
                <a:latin typeface="Garamond" panose="02020404030301010803" pitchFamily="18" charset="0"/>
              </a:rPr>
              <a:t>The model structure will be a GLM – logistic regression, and odds ratios as estimand.</a:t>
            </a:r>
          </a:p>
          <a:p>
            <a:pPr marL="514350" indent="-514350">
              <a:buAutoNum type="arabicPeriod"/>
            </a:pPr>
            <a:r>
              <a:rPr lang="en-KE" sz="2800" dirty="0">
                <a:latin typeface="Garamond" panose="02020404030301010803" pitchFamily="18" charset="0"/>
              </a:rPr>
              <a:t>Preliminary analysis shows little missingness, and we are reasoning about it.</a:t>
            </a:r>
          </a:p>
        </p:txBody>
      </p:sp>
    </p:spTree>
    <p:extLst>
      <p:ext uri="{BB962C8B-B14F-4D97-AF65-F5344CB8AC3E}">
        <p14:creationId xmlns:p14="http://schemas.microsoft.com/office/powerpoint/2010/main" val="37780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585</Words>
  <Application>Microsoft Macintosh PowerPoint</Application>
  <PresentationFormat>Widescreen</PresentationFormat>
  <Paragraphs>48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Stanley Saitet</dc:creator>
  <cp:lastModifiedBy>Stanley Saitet</cp:lastModifiedBy>
  <cp:revision>6</cp:revision>
  <dcterms:created xsi:type="dcterms:W3CDTF">2026-05-18T08:45:53Z</dcterms:created>
  <dcterms:modified xsi:type="dcterms:W3CDTF">2026-05-19T09:12:03Z</dcterms:modified>
</cp:coreProperties>
</file>