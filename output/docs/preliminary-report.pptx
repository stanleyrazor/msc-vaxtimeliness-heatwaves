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K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96"/>
  </p:normalViewPr>
  <p:slideViewPr>
    <p:cSldViewPr snapToGrid="0">
      <p:cViewPr varScale="1">
        <p:scale>
          <a:sx n="105" d="100"/>
          <a:sy n="105" d="100"/>
        </p:scale>
        <p:origin x="6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F5CB2-C3D6-70CE-A2D5-8DBB7E0D3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942CC8-C785-2CBA-1F3C-5154659A9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9CAFD-C492-6BFD-F269-4F3B98CAE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352F0-C24E-951F-93C3-A7E8A95D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03EE9-77DC-9776-984A-82831E915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817951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4FD2-0F86-CAEE-E2FC-44E13DA92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2BB96-F8CA-2A76-85BF-4EE094E9B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8DE45-067E-A0F7-8F6E-A9093865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C1E83-E1D3-6AA8-4A39-5DB6C0A10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77E95-21FA-93C2-081E-03473D658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699837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9E962-9F89-E8C6-B6A4-B4090967E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EE1EE-C6CC-9175-EF59-D6F4A1D06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E4F74-ED35-0173-AB29-4F5E96974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21302A-2F03-A8DD-0045-FEE158E98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FA2A1-95AA-D40B-596C-75A9D864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302224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AEAD-E6F1-C481-95DE-DEAB678C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39CEC-1A4A-136E-8685-F508A51E41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526B2-6BE1-6CA0-348B-E44B28D38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70D33E-1952-7104-9DD4-0D80E83F3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AAECB-8463-0CD6-F844-0682BE1D8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D9224-B9B2-7779-CF33-A04EE0A4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810208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2BC51-8C08-B1A8-6FEF-33F09474F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24049D-6B56-E14F-AD6F-6E4C7FE03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27D19-C9F5-0051-FA3D-4EA83DAC15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29CA66-74ED-87C8-98D1-4D40150255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4F005B-36E4-1EE1-77B0-E206CA0935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6F3964-5334-3DC1-4C6C-BB97CDA7E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0ED179-022A-5504-6E93-BA827544C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A2B1E4-2C27-4B8F-5681-E55933CB1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370832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83CD-BE17-2AF0-14CB-D58B38A9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D71BB-9722-DC70-2DED-90C75B09E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7BF22-96E2-F0F8-7410-7E06833C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883B4-24CC-3ECB-0DD4-4CAE91D45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611748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236255-71DF-5F3A-E321-A3A85013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ED76E8-06D6-1528-79A0-0C985A1AD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AD1F-9960-0BDE-B2F8-49D4AAE1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68787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05B40-2353-21E9-5C5E-AA11C4B2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A7C045-AD77-E96E-CA2B-1A5550B1C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CBA404-A289-1F22-D0F5-FA6873179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3908BE-1D5D-9CD7-9836-859FE947E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2C353-D8AF-258A-710B-78BEE0102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AF1A5-4336-44FE-1146-1B6421F05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931653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C3F8-610D-7AB8-FD13-44B48000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2EE996-3276-43D1-F1F1-2706075DE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7D9707-D7C3-50C2-143D-C7F39F64C8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75F06-1B42-857C-CE9C-F641A602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8A06C-C23D-7980-78DA-7E32D5CB1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23679-0506-C569-F4A3-46A7C786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09343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73093-5AF3-C86C-519F-82FC440FF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2B9363-761D-9BC2-9FD5-4C8201D13F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BD88D-2B43-CE86-8E47-96A3AB66C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82120-81F4-19A7-3E7B-3650CD64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D086C-377C-1B46-169B-1A77C1BF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87410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AC2607-5008-96D7-1F74-84358AFE32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E3778-C2AC-B492-747C-318735253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28963-60B7-0854-6C8F-D916EE952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80CA8-B946-F717-EC8E-04F210D71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7C412-4FFF-F32D-2985-601D48076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26620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EC9904-F38E-F908-DF0F-63E1BBBF5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215B-0EE3-23DC-5E5F-0EF6FAB4D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D800C-1326-A790-34C6-16EC1AA3B6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0C501-3F29-AC4E-8DC6-370466077579}" type="datetimeFigureOut">
              <a:rPr lang="en-KE" smtClean="0"/>
              <a:t>20/07/2026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94CDC-CB0D-CB09-ECBA-5D28D2677C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0F2AC-753D-9F16-96C8-10F468FD64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9297AE-063F-BA4E-85A1-B5C3DF7452CD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85568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BFCE-1D75-9405-DEB5-A6871809A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KE" dirty="0">
                <a:latin typeface="Garamond" panose="02020404030301010803" pitchFamily="18" charset="0"/>
              </a:rPr>
              <a:t>Examining the timeliness of routine vaccinations during heatwaves</a:t>
            </a:r>
          </a:p>
        </p:txBody>
      </p:sp>
    </p:spTree>
    <p:extLst>
      <p:ext uri="{BB962C8B-B14F-4D97-AF65-F5344CB8AC3E}">
        <p14:creationId xmlns:p14="http://schemas.microsoft.com/office/powerpoint/2010/main" val="227292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21653B4-F1B3-55A0-49C1-0F5343FE7866}"/>
              </a:ext>
            </a:extLst>
          </p:cNvPr>
          <p:cNvSpPr txBox="1">
            <a:spLocks/>
          </p:cNvSpPr>
          <p:nvPr/>
        </p:nvSpPr>
        <p:spPr>
          <a:xfrm>
            <a:off x="1" y="1786466"/>
            <a:ext cx="6096000" cy="3285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E" sz="2400" b="1" dirty="0">
                <a:latin typeface="Garamond" panose="02020404030301010803" pitchFamily="18" charset="0"/>
              </a:rPr>
              <a:t>BCG Vaccine: Given at birth</a:t>
            </a:r>
          </a:p>
          <a:p>
            <a:endParaRPr lang="en-KE" sz="2400" dirty="0">
              <a:latin typeface="Garamond" panose="02020404030301010803" pitchFamily="18" charset="0"/>
            </a:endParaRPr>
          </a:p>
          <a:p>
            <a:r>
              <a:rPr lang="en-KE" sz="2400" dirty="0">
                <a:latin typeface="Garamond" panose="02020404030301010803" pitchFamily="18" charset="0"/>
              </a:rPr>
              <a:t>In the data: 14,896 total observations 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(53%, n=7,983 have recorded vaccination dates)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18%, n=2,797 do not have vaccination records but mother indicates they were vaccinated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35%, n=5,186 have not been vaccinated as at the interview 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EE639-FF95-8F88-E628-D1998762E92D}"/>
              </a:ext>
            </a:extLst>
          </p:cNvPr>
          <p:cNvSpPr txBox="1"/>
          <p:nvPr/>
        </p:nvSpPr>
        <p:spPr>
          <a:xfrm>
            <a:off x="6502399" y="5887412"/>
            <a:ext cx="5689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E" sz="1400" dirty="0">
                <a:latin typeface="Garamond" panose="02020404030301010803" pitchFamily="18" charset="0"/>
              </a:rPr>
              <a:t>Cumulative vaccination coverage incorporating children with maternal recall (</a:t>
            </a:r>
            <a:r>
              <a:rPr lang="en-GB" sz="1400" dirty="0">
                <a:latin typeface="Garamond" panose="02020404030301010803" pitchFamily="18" charset="0"/>
              </a:rPr>
              <a:t>interval-censored</a:t>
            </a:r>
            <a:r>
              <a:rPr lang="en-KE" sz="1400" dirty="0">
                <a:latin typeface="Garamond" panose="02020404030301010803" pitchFamily="18" charset="0"/>
              </a:rPr>
              <a:t>), children with observed vaccination dates, and children who remained unvaccinated at the time of interview (right-censored).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306402-9915-CCEC-C106-1423DA81A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398" y="0"/>
            <a:ext cx="5689600" cy="568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95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A744E-A151-5FDC-58EA-D439AC6F4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62A625-50AC-7C15-FF47-24FA938AA4D6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BCG Vaccine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35DF46-DC3D-0811-9294-A26A5FFB7F81}"/>
              </a:ext>
            </a:extLst>
          </p:cNvPr>
          <p:cNvSpPr txBox="1"/>
          <p:nvPr/>
        </p:nvSpPr>
        <p:spPr>
          <a:xfrm>
            <a:off x="0" y="5657671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Heatwave exposure under a ±7-day exposure window.</a:t>
            </a:r>
            <a:r>
              <a:rPr lang="en-KE" sz="2400" dirty="0">
                <a:latin typeface="Garamond" panose="02020404030301010803" pitchFamily="18" charset="0"/>
              </a:rPr>
              <a:t> In the full dataset, 50 of 14,896 children were classified as heatwave-exposed. Restricting the analysis to children with recorded vaccination dates reduced this to 21 of 6,913 children.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B58E67-E8CC-7F54-AA35-AA4320070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7" y="1114196"/>
            <a:ext cx="10590926" cy="45434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8C70F7-A7D3-CC12-0942-224591FCE32C}"/>
              </a:ext>
            </a:extLst>
          </p:cNvPr>
          <p:cNvSpPr txBox="1"/>
          <p:nvPr/>
        </p:nvSpPr>
        <p:spPr>
          <a:xfrm>
            <a:off x="0" y="557098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dirty="0">
                <a:latin typeface="Garamond" panose="02020404030301010803" pitchFamily="18" charset="0"/>
              </a:rPr>
              <a:t>Among children who had vaccination dates on their reports, the chart below shows the delay in days:</a:t>
            </a:r>
          </a:p>
        </p:txBody>
      </p:sp>
    </p:spTree>
    <p:extLst>
      <p:ext uri="{BB962C8B-B14F-4D97-AF65-F5344CB8AC3E}">
        <p14:creationId xmlns:p14="http://schemas.microsoft.com/office/powerpoint/2010/main" val="3477239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BFB4-7F62-07C2-A0BD-2BF861F0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9720785-8869-CFD9-F774-BB278FB2393D}"/>
              </a:ext>
            </a:extLst>
          </p:cNvPr>
          <p:cNvSpPr txBox="1">
            <a:spLocks/>
          </p:cNvSpPr>
          <p:nvPr/>
        </p:nvSpPr>
        <p:spPr>
          <a:xfrm>
            <a:off x="1" y="1786466"/>
            <a:ext cx="6096000" cy="3285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E" sz="2400" b="1" dirty="0">
                <a:latin typeface="Garamond" panose="02020404030301010803" pitchFamily="18" charset="0"/>
              </a:rPr>
              <a:t>Pentavalent 1 Vaccine: Given at 6 weeks</a:t>
            </a:r>
          </a:p>
          <a:p>
            <a:endParaRPr lang="en-KE" sz="2400" dirty="0">
              <a:latin typeface="Garamond" panose="02020404030301010803" pitchFamily="18" charset="0"/>
            </a:endParaRPr>
          </a:p>
          <a:p>
            <a:r>
              <a:rPr lang="en-KE" sz="2400" dirty="0">
                <a:latin typeface="Garamond" panose="02020404030301010803" pitchFamily="18" charset="0"/>
              </a:rPr>
              <a:t>In the data: 14,451 total observations 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(44%, n=6,369 have vaccination dates)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17%, n=2,487 do not have vaccination records but mother indicates they were vaccinated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39%, n=5,595 have not been vaccinated as at the interview 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A5150-6D1F-8BFB-506B-7C2128CDC2FF}"/>
              </a:ext>
            </a:extLst>
          </p:cNvPr>
          <p:cNvSpPr txBox="1"/>
          <p:nvPr/>
        </p:nvSpPr>
        <p:spPr>
          <a:xfrm>
            <a:off x="6502399" y="5887412"/>
            <a:ext cx="5689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E" sz="1400" dirty="0">
                <a:latin typeface="Garamond" panose="02020404030301010803" pitchFamily="18" charset="0"/>
              </a:rPr>
              <a:t>Cumulative vaccination coverage incorporating children with maternal recall (</a:t>
            </a:r>
            <a:r>
              <a:rPr lang="en-GB" sz="1400" dirty="0">
                <a:latin typeface="Garamond" panose="02020404030301010803" pitchFamily="18" charset="0"/>
              </a:rPr>
              <a:t>interval-censored</a:t>
            </a:r>
            <a:r>
              <a:rPr lang="en-KE" sz="1400" dirty="0">
                <a:latin typeface="Garamond" panose="02020404030301010803" pitchFamily="18" charset="0"/>
              </a:rPr>
              <a:t>), children with observed vaccination dates, and children who remained unvaccinated at the time of interview (right-censored).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CF7D0-C1E6-79AE-D6BC-C2049BE3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584" y="-1"/>
            <a:ext cx="5887413" cy="5887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736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E0499-8085-906D-452F-3015448A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75491A-8350-9A11-8A72-DD2F64BC9A8B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Pentavalent 1 Vaccine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56122-9BE1-C9E8-1D36-AE91DE96C6C4}"/>
              </a:ext>
            </a:extLst>
          </p:cNvPr>
          <p:cNvSpPr txBox="1"/>
          <p:nvPr/>
        </p:nvSpPr>
        <p:spPr>
          <a:xfrm>
            <a:off x="0" y="5657671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Heatwave exposure under a ±7-day exposure window.</a:t>
            </a:r>
            <a:r>
              <a:rPr lang="en-KE" sz="2400" dirty="0">
                <a:latin typeface="Garamond" panose="02020404030301010803" pitchFamily="18" charset="0"/>
              </a:rPr>
              <a:t> In the full dataset, 44 of 14,451 children were classified as heatwave-exposed. Restricting the analysis to children with recorded vaccination dates reduced this </a:t>
            </a:r>
            <a:r>
              <a:rPr lang="en-KE" sz="2400">
                <a:latin typeface="Garamond" panose="02020404030301010803" pitchFamily="18" charset="0"/>
              </a:rPr>
              <a:t>to 21 </a:t>
            </a:r>
            <a:r>
              <a:rPr lang="en-KE" sz="2400" dirty="0">
                <a:latin typeface="Garamond" panose="02020404030301010803" pitchFamily="18" charset="0"/>
              </a:rPr>
              <a:t>of 6,369 children.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9A2D2-FAA7-5DBA-03F4-1905B9EA8DF0}"/>
              </a:ext>
            </a:extLst>
          </p:cNvPr>
          <p:cNvSpPr txBox="1"/>
          <p:nvPr/>
        </p:nvSpPr>
        <p:spPr>
          <a:xfrm>
            <a:off x="0" y="557098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dirty="0">
                <a:latin typeface="Garamond" panose="02020404030301010803" pitchFamily="18" charset="0"/>
              </a:rPr>
              <a:t>Among children who had vaccination dates on their reports, the chart below shows the delay in days: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F14352-A5B1-3583-09BD-FA4727DEF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18763"/>
            <a:ext cx="10820400" cy="4641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32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FEA45-0566-9D18-1017-B8FE1FF97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F5992FB-9086-9046-9BA1-FF6EFC8191A9}"/>
              </a:ext>
            </a:extLst>
          </p:cNvPr>
          <p:cNvSpPr txBox="1">
            <a:spLocks/>
          </p:cNvSpPr>
          <p:nvPr/>
        </p:nvSpPr>
        <p:spPr>
          <a:xfrm>
            <a:off x="1" y="1786466"/>
            <a:ext cx="6096000" cy="3285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E" sz="2400" b="1" dirty="0">
                <a:latin typeface="Garamond" panose="02020404030301010803" pitchFamily="18" charset="0"/>
              </a:rPr>
              <a:t>Pentavalent 2 Vaccine: Given at 10 weeks</a:t>
            </a:r>
          </a:p>
          <a:p>
            <a:endParaRPr lang="en-KE" sz="2400" dirty="0">
              <a:latin typeface="Garamond" panose="02020404030301010803" pitchFamily="18" charset="0"/>
            </a:endParaRPr>
          </a:p>
          <a:p>
            <a:r>
              <a:rPr lang="en-KE" sz="2400" dirty="0">
                <a:latin typeface="Garamond" panose="02020404030301010803" pitchFamily="18" charset="0"/>
              </a:rPr>
              <a:t>In the data: 14,028 total observations 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(41%, n=5,703 have vaccination dates)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17%, n=2,319 do not have vaccination records but mother indicates they were vaccinated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43%, n=6,006 have not been vaccinated as at the interview 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911FEE-1B03-C519-7D95-D616DC2BC22E}"/>
              </a:ext>
            </a:extLst>
          </p:cNvPr>
          <p:cNvSpPr txBox="1"/>
          <p:nvPr/>
        </p:nvSpPr>
        <p:spPr>
          <a:xfrm>
            <a:off x="6502399" y="5887412"/>
            <a:ext cx="5689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E" sz="1400" dirty="0">
                <a:latin typeface="Garamond" panose="02020404030301010803" pitchFamily="18" charset="0"/>
              </a:rPr>
              <a:t>Cumulative vaccination coverage incorporating children with maternal recall (</a:t>
            </a:r>
            <a:r>
              <a:rPr lang="en-GB" sz="1400" dirty="0">
                <a:latin typeface="Garamond" panose="02020404030301010803" pitchFamily="18" charset="0"/>
              </a:rPr>
              <a:t>interval-censored</a:t>
            </a:r>
            <a:r>
              <a:rPr lang="en-KE" sz="1400" dirty="0">
                <a:latin typeface="Garamond" panose="02020404030301010803" pitchFamily="18" charset="0"/>
              </a:rPr>
              <a:t>), children with observed vaccination dates, and children who remained unvaccinated at the time of interview (right-censored).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9945C7-A7AC-2DDE-FF2A-AFCA192DA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5887412" cy="588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099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51215-DB44-685F-C8EC-CB086083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205ACF-9983-366B-7B2A-C68677A0C3F8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Pentavalent 2 Vaccine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F7676F-9B0A-B162-76CA-C01B31BAC01A}"/>
              </a:ext>
            </a:extLst>
          </p:cNvPr>
          <p:cNvSpPr txBox="1"/>
          <p:nvPr/>
        </p:nvSpPr>
        <p:spPr>
          <a:xfrm>
            <a:off x="0" y="5657671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Heatwave exposure under a ±7-day exposure window.</a:t>
            </a:r>
            <a:r>
              <a:rPr lang="en-KE" sz="2400" dirty="0">
                <a:latin typeface="Garamond" panose="02020404030301010803" pitchFamily="18" charset="0"/>
              </a:rPr>
              <a:t> In the full dataset, 56 of 14,028 children were classified as heatwave-exposed. Restricting the analysis to children with recorded vaccination dates reduced this to 21 of 5,703 children.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36C11-BB06-55E2-790C-CF55C2AB295C}"/>
              </a:ext>
            </a:extLst>
          </p:cNvPr>
          <p:cNvSpPr txBox="1"/>
          <p:nvPr/>
        </p:nvSpPr>
        <p:spPr>
          <a:xfrm>
            <a:off x="0" y="557098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dirty="0">
                <a:latin typeface="Garamond" panose="02020404030301010803" pitchFamily="18" charset="0"/>
              </a:rPr>
              <a:t>Among children who had vaccination dates on their reports, the chart below shows the delay in days: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0F2272-83B0-C7EF-3FED-F2EA24E92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09" y="1018763"/>
            <a:ext cx="10813382" cy="463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886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144FB-E478-BEB9-14E4-8EF4F5FF7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1C0B8B4-4241-50B1-9AEE-A56CC1079B65}"/>
              </a:ext>
            </a:extLst>
          </p:cNvPr>
          <p:cNvSpPr txBox="1">
            <a:spLocks/>
          </p:cNvSpPr>
          <p:nvPr/>
        </p:nvSpPr>
        <p:spPr>
          <a:xfrm>
            <a:off x="1" y="1786466"/>
            <a:ext cx="6096000" cy="3285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E" sz="2400" b="1" dirty="0">
                <a:latin typeface="Garamond" panose="02020404030301010803" pitchFamily="18" charset="0"/>
              </a:rPr>
              <a:t>Pentavalent 3 Vaccine: Given at 14 weeks</a:t>
            </a:r>
          </a:p>
          <a:p>
            <a:endParaRPr lang="en-KE" sz="2400" dirty="0">
              <a:latin typeface="Garamond" panose="02020404030301010803" pitchFamily="18" charset="0"/>
            </a:endParaRPr>
          </a:p>
          <a:p>
            <a:r>
              <a:rPr lang="en-KE" sz="2400" dirty="0">
                <a:latin typeface="Garamond" panose="02020404030301010803" pitchFamily="18" charset="0"/>
              </a:rPr>
              <a:t>In the data: 13,577 total observations 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(38%, n=5,109 have vaccination dates)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13%, n=1,763 do not have vaccination records but mother indicates they were vaccinated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49%, n=6,705 have not been vaccinated as at the interview 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9A758-9547-4BF3-C658-822EC8B48980}"/>
              </a:ext>
            </a:extLst>
          </p:cNvPr>
          <p:cNvSpPr txBox="1"/>
          <p:nvPr/>
        </p:nvSpPr>
        <p:spPr>
          <a:xfrm>
            <a:off x="6502399" y="5887412"/>
            <a:ext cx="5689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E" sz="1400" dirty="0">
                <a:latin typeface="Garamond" panose="02020404030301010803" pitchFamily="18" charset="0"/>
              </a:rPr>
              <a:t>Cumulative vaccination coverage incorporating children with maternal recall (</a:t>
            </a:r>
            <a:r>
              <a:rPr lang="en-GB" sz="1400" dirty="0">
                <a:latin typeface="Garamond" panose="02020404030301010803" pitchFamily="18" charset="0"/>
              </a:rPr>
              <a:t>interval-censored</a:t>
            </a:r>
            <a:r>
              <a:rPr lang="en-KE" sz="1400" dirty="0">
                <a:latin typeface="Garamond" panose="02020404030301010803" pitchFamily="18" charset="0"/>
              </a:rPr>
              <a:t>), children with observed vaccination dates, and children who remained unvaccinated at the time of interview (right-censored).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A89532-09DC-D904-2554-71E1D0D21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586" y="0"/>
            <a:ext cx="5887412" cy="588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59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5BA45-5028-895E-59CF-B1A53389C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96459B-3191-588C-17BD-3F84C4E5CC04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Pentavalent 3 Vaccine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3D4BC5-C283-E490-E1FD-61555E8E2C2E}"/>
              </a:ext>
            </a:extLst>
          </p:cNvPr>
          <p:cNvSpPr txBox="1"/>
          <p:nvPr/>
        </p:nvSpPr>
        <p:spPr>
          <a:xfrm>
            <a:off x="0" y="5657671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Heatwave exposure under a ±7-day exposure window.</a:t>
            </a:r>
            <a:r>
              <a:rPr lang="en-KE" sz="2400" dirty="0">
                <a:latin typeface="Garamond" panose="02020404030301010803" pitchFamily="18" charset="0"/>
              </a:rPr>
              <a:t> In the full dataset, 75 of 13,577 children were classified as heatwave-exposed. Restricting the analysis to children with recorded vaccination dates reduced this to 18 of 5,109 children.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68037-DBD1-B4FB-84F5-659F996C6154}"/>
              </a:ext>
            </a:extLst>
          </p:cNvPr>
          <p:cNvSpPr txBox="1"/>
          <p:nvPr/>
        </p:nvSpPr>
        <p:spPr>
          <a:xfrm>
            <a:off x="0" y="557098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dirty="0">
                <a:latin typeface="Garamond" panose="02020404030301010803" pitchFamily="18" charset="0"/>
              </a:rPr>
              <a:t>Among children who had vaccination dates on their reports, the chart below shows the delay in days: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A661CE-CE49-894A-A9AB-8BFED9C83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09" y="1018763"/>
            <a:ext cx="10813382" cy="463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73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4709E-275B-8A13-5E42-5723797E4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30D731C-C069-1615-D20B-B916D6C9D288}"/>
              </a:ext>
            </a:extLst>
          </p:cNvPr>
          <p:cNvSpPr txBox="1">
            <a:spLocks/>
          </p:cNvSpPr>
          <p:nvPr/>
        </p:nvSpPr>
        <p:spPr>
          <a:xfrm>
            <a:off x="1" y="1786466"/>
            <a:ext cx="6096000" cy="3285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E" sz="2400" b="1" dirty="0">
                <a:latin typeface="Garamond" panose="02020404030301010803" pitchFamily="18" charset="0"/>
              </a:rPr>
              <a:t>MCV 1 Vaccine: Given at 9 months</a:t>
            </a:r>
          </a:p>
          <a:p>
            <a:endParaRPr lang="en-KE" sz="2400" dirty="0">
              <a:latin typeface="Garamond" panose="02020404030301010803" pitchFamily="18" charset="0"/>
            </a:endParaRPr>
          </a:p>
          <a:p>
            <a:r>
              <a:rPr lang="en-KE" sz="2400" dirty="0">
                <a:latin typeface="Garamond" panose="02020404030301010803" pitchFamily="18" charset="0"/>
              </a:rPr>
              <a:t>In the data: 10,821 total observations 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(33%, n=3,565 have vaccination dates)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18%, n=1,937 do not have vaccination records but mother indicates they were vaccinated</a:t>
            </a:r>
          </a:p>
          <a:p>
            <a:pPr marL="342900" indent="-342900">
              <a:buFontTx/>
              <a:buChar char="-"/>
            </a:pPr>
            <a:r>
              <a:rPr lang="en-KE" sz="2400" dirty="0">
                <a:latin typeface="Garamond" panose="02020404030301010803" pitchFamily="18" charset="0"/>
              </a:rPr>
              <a:t>49%, n=5,319 have not been vaccinated as at the interview 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28F4CA-D0F0-CFAE-0D93-67B945EFE238}"/>
              </a:ext>
            </a:extLst>
          </p:cNvPr>
          <p:cNvSpPr txBox="1"/>
          <p:nvPr/>
        </p:nvSpPr>
        <p:spPr>
          <a:xfrm>
            <a:off x="6502399" y="5887412"/>
            <a:ext cx="5689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E" sz="1400" dirty="0">
                <a:latin typeface="Garamond" panose="02020404030301010803" pitchFamily="18" charset="0"/>
              </a:rPr>
              <a:t>Cumulative vaccination coverage incorporating children with maternal recall (</a:t>
            </a:r>
            <a:r>
              <a:rPr lang="en-GB" sz="1400" dirty="0">
                <a:latin typeface="Garamond" panose="02020404030301010803" pitchFamily="18" charset="0"/>
              </a:rPr>
              <a:t>interval-censored</a:t>
            </a:r>
            <a:r>
              <a:rPr lang="en-KE" sz="1400" dirty="0">
                <a:latin typeface="Garamond" panose="02020404030301010803" pitchFamily="18" charset="0"/>
              </a:rPr>
              <a:t>), children with observed vaccination dates, and children who remained unvaccinated at the time of interview (right-censored).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0F5704-C9D2-FA89-748E-C6FC0A8E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5887412" cy="588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13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CCEF2-8BAB-B8FB-F564-3953DD4E9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09AE7E-CBCF-512A-B9E4-ED1735A4DBA5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MCV 1 Vaccine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24D47-A225-55A4-55E2-37FB16A57D7E}"/>
              </a:ext>
            </a:extLst>
          </p:cNvPr>
          <p:cNvSpPr txBox="1"/>
          <p:nvPr/>
        </p:nvSpPr>
        <p:spPr>
          <a:xfrm>
            <a:off x="0" y="5657671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b="1" dirty="0">
                <a:latin typeface="Garamond" panose="02020404030301010803" pitchFamily="18" charset="0"/>
              </a:rPr>
              <a:t>Heatwave exposure under a ±7-day exposure window.</a:t>
            </a:r>
            <a:r>
              <a:rPr lang="en-KE" sz="2400" dirty="0">
                <a:latin typeface="Garamond" panose="02020404030301010803" pitchFamily="18" charset="0"/>
              </a:rPr>
              <a:t> In the full dataset, 84 of 10,821 children were classified as heatwave-exposed. Restricting the analysis to children with recorded vaccination dates reduced this to 29 of 3,536 children.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15F066-7C0A-51F4-787F-3C14A7B333BD}"/>
              </a:ext>
            </a:extLst>
          </p:cNvPr>
          <p:cNvSpPr txBox="1"/>
          <p:nvPr/>
        </p:nvSpPr>
        <p:spPr>
          <a:xfrm>
            <a:off x="0" y="557098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sz="2400" dirty="0">
                <a:latin typeface="Garamond" panose="02020404030301010803" pitchFamily="18" charset="0"/>
              </a:rPr>
              <a:t>Among children who had vaccination dates on their reports, the chart below shows the delay in days: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02C0B9-8ED3-DCDD-8B03-7E2110587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09" y="1018763"/>
            <a:ext cx="10813382" cy="463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016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741</Words>
  <Application>Microsoft Macintosh PowerPoint</Application>
  <PresentationFormat>Widescreen</PresentationFormat>
  <Paragraphs>51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Garamond</vt:lpstr>
      <vt:lpstr>Office Theme</vt:lpstr>
      <vt:lpstr>Examining the timeliness of routine vaccinations during heatwaves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Stanley Saitet</dc:creator>
  <cp:lastModifiedBy>Stanley Saitet</cp:lastModifiedBy>
  <cp:revision>10</cp:revision>
  <dcterms:created xsi:type="dcterms:W3CDTF">2026-07-18T09:46:10Z</dcterms:created>
  <dcterms:modified xsi:type="dcterms:W3CDTF">2026-07-20T15:43:44Z</dcterms:modified>
</cp:coreProperties>
</file>